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76" r:id="rId12"/>
    <p:sldId id="264" r:id="rId13"/>
    <p:sldId id="277" r:id="rId14"/>
    <p:sldId id="272" r:id="rId15"/>
    <p:sldId id="275" r:id="rId16"/>
    <p:sldId id="273" r:id="rId17"/>
    <p:sldId id="274" r:id="rId18"/>
    <p:sldId id="265" r:id="rId19"/>
    <p:sldId id="266" r:id="rId20"/>
    <p:sldId id="26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3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95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12B9-8FC7-2216-158C-67BD854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C721D-4965-CB8A-0EFA-40874F2C8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93F13-7AFF-632B-B4BD-FC9A50A05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1EF2-952F-BDC0-4C34-23B9EE295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63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9396-AFDB-9B8F-3DE2-7E64CDDE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650B9-CAD0-306C-EAA9-7C3A7E1C3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A75E6-3C61-E06D-C575-B50D47EE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1B219-5373-7875-5A1E-50A14E1D5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35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D884-E71D-8B0F-5839-40574536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2E4E5-73FD-4EC0-C4BC-6F67ADDEE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FA6E4-F03A-3EFD-8489-B7911A371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39F00-A6E5-73B1-D32E-89105420F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83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BEC0-E0CA-2A44-9841-FF9D7EA9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E81E1-3475-C840-3ADD-2A3EA0034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EB15A-7372-6CFF-79F8-C2F1A2065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46A04-501B-E871-233E-3BAC30AFE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53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2345C-AD5A-BFED-1D05-A614F955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A15DB-C7BA-C708-F1C0-4F30F0506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5BF19-C85C-66C3-580D-CD943618D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B0D7E-A179-CEE3-6002-C25DF08F21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4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6116-38B1-4501-A54A-CA0763F8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A9FC0-383A-AE70-FCE4-76F52D384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D2ABC-9DAB-EE67-09F9-7A8FED01B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2C375-0E26-FB01-8BCC-C42FC7958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13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052560" y="-274320"/>
            <a:ext cx="3474720" cy="3474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1417320"/>
            <a:ext cx="91440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ORCS 6529  ·  ADVANCED REINFORCEMENT LEARNING  ·  FINAL PRESENTATION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1440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 Computing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914400" y="3520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power-aware, SLA-bound deep-RL scheduler — built end-to-end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Gymnasium simulator to FastAPI dashboard, ~5.2K LOC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914400" y="5074920"/>
            <a:ext cx="36576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09728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 Patel  ·  tp2899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Ahuja  ·  aa5790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961120" y="5852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ORCS 6529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power-aware scheduling, and why now?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937760" cy="448056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09728" cy="448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~1–2%</a:t>
            </a:r>
            <a:endParaRPr lang="en-US" sz="86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 is consumed by data centers (IEA, 2024) — and the share is rising fast with AI workloads.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5349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power is non-linear:    P(u) = P_idle + (P_max − P_idle) · u^α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scheduler that decides which queued job runs on which server — minimising cluster power while honouring SLA latency deadlines, and generalising across unseen workloads.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607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approaches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3886200"/>
            <a:ext cx="411480" cy="41148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977640"/>
            <a:ext cx="246888" cy="2468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9360" y="3840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heuristics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309360" y="41330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Robin, Shortest-Job-First, First-Fit Decreasing — fast and stateless, but blind to power non-linearity, server tiers, and bursty arrivals.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60720" y="4663440"/>
            <a:ext cx="411480" cy="41148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754880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4617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ILP / bin-packing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49103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and online bin-packing — strong guarantees on small instances, but scale poorly and break under workload uncertainty.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60720" y="5440680"/>
            <a:ext cx="411480" cy="41148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532120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09360" y="5394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309360" y="56875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scheduling on a 50-server cluster is NP-hard, so label generation is intractable; supervised models also cannot capture long-horizon power × SLA trade-offs.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reinforcement learning is the right fit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others have framed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DeepRM (Mao et al.)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RL scheduler — REINFORCE policy gradient over a multi-resource cluster simulator.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 · RL-VM 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Graph-NN-based RL for DAG-structured Spark jobs and VM consolidation in cloud DCs.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 RL schedulers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/ A3C variants minimising PUE × SLA, mostly on single-DC simulators with hand-tuned weights.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8348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Transformers &amp; CMDPs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Sequence-modelling and constrained-MDP formulations bring formal guarantees and offline-data learning.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1691640"/>
            <a:ext cx="5303520" cy="64008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828800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95160" y="1691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RL  (and not heuristics or SL)?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83680" y="256032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596896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04088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delayed reward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040880" y="2807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energy &amp; SLA outcomes depend on long sequences of placement decisions — exactly what γ-discounted return optimises.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583680" y="34290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465576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04088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randomized and bursty arrivals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040880" y="3675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Trial-and-error policies adjust online to workload regimes that fixed heuristics cannot see.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583680" y="429768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334256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04088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power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7040880" y="4544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u^α curves directly from reward — no hand-tuned utilisation thresholds or per-tier constants.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583680" y="516636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5202936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040880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variants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7040880" y="5413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CMDP / Lagrangian formulations let SLA become a hard expected-cost budget, not a fragile penalty term.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PROBLEM FORMULATION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the cluster as a discrete-time MDP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⟨ S,  A,  P,  r,  γ=0.99 ⟩    ·    custom Gymnasium env    ·    BASELINE: N = 50 servers (all-on), K = 5 queue slots, 1000-step episodes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274320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2549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715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S_t   (4·N + 4·K dim)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71600" y="32278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server (×N): cpu_util, mem_util, p_max_norm, cpu_cap_norm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queued job (×K): cpu_req, mem_req, duration, wait_time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identity exposed so the agent can prefer efficient servers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25146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09360" y="2514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01968" y="274320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82549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715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A_t   ·  Discrete(K·N + 1)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223760" y="32278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(k, n) jointly: WHICH queued job → WHICH server (251 choices)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“Wait” action — gated to legal only when nothing currently fits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Invalid-action mask applied at selection AND at TD bootstrap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443484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7200" y="443484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49808" y="466344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745736"/>
            <a:ext cx="338328" cy="3383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 P  ·  all servers always-on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371600" y="51480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workload generators: synthetic Poisson, Alibaba ’18, Google v2/v3, sampled-hybrid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run jobs to completion; queued jobs may expire (SLA breach → dropped)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fleet — efficient · standard · power-hungry tiers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309360" y="443484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309360" y="443484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601968" y="466344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745736"/>
            <a:ext cx="338328" cy="3383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2376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r_t   (heart of the env)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23760" y="51480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−( α · P̂_active  +  β · SLA_signal )    α = 1, β = 50  (baseline)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P̂_active = (P_total − Σ P_idle) / Σ (P_max − P_idle) ∈ [0,1]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SLA_signal = discrete violations + continuous queue-pressure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ALGORITHM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learned agents — three RL paradigms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27432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274320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6916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" y="274320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off-policy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3108960"/>
            <a:ext cx="2414016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paradigm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344728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a discrete K·N+1 action space; replay buffer reuses every transition. Masking applied in BOTH selection AND the TD bootstrap target — without the second step, illegal actions silently bleed into Q_target and the policy never converges.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48920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514807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1.0 → 0.05  (exp decay 0.999)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 hard-update / 1k steps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256→256 MLP, ReLU, smooth-L1, Adam 3e-4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55264" y="1691640"/>
            <a:ext cx="27432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55264" y="1691640"/>
            <a:ext cx="274320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9856" y="16916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POLICY-GRADIENT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 (Actor-Critic)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19856" y="274320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· clipped surrogate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19856" y="3108960"/>
            <a:ext cx="2414016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9856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paradigm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19856" y="344728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on-policy actor-critic — lets us study whether stochastic policies handle bursty arrivals better than a greedy Q-policy. Uses a custom outer loop because PPO can't reuse stale data. Strong empirical baseline for fair RL-vs-RL comparison.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9856" y="48920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19856" y="514807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GAE-λ = 0.95, clip = 0.2, 10 epochs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Categorical with -inf logits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whitening + std&lt;1e-6 guard, grad clip 0.5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691640"/>
            <a:ext cx="27432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63056" y="1691640"/>
            <a:ext cx="274320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27648" y="16916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Sub-agents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27648" y="274320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· multi-objective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27648" y="3108960"/>
            <a:ext cx="2414016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27648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paradigm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7648" y="344728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brittle (α, β) reward trade-off with a learned arbitrator. Two sub-agents (power, SLA) propose independently; a supervisor draws a Bernoulli over their proposals, trained with REINFORCE on the combined cluster reward.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27648" y="48920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7648" y="514807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SLA-Agent  (DQN, reward = −viol.)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Power-Agent  (DQN, reward = −P̂)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MLP [3→32→32→1], REINFORCE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70848" y="1691640"/>
            <a:ext cx="27432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070848" y="1691640"/>
            <a:ext cx="2743200" cy="50292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35440" y="16916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SAFE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5440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CMDP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235440" y="274320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FQI · constraint-aware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35440" y="3108960"/>
            <a:ext cx="2414016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35440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paradigm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35440" y="344728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SLA as a hard expected-cost budget rather than a soft penalty term — formal constraint guarantee with no live exploration risk. Trains on a logged-transitions dataset (FQI), making it the only agent that can be deployed without online interaction.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35440" y="48920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235440" y="5148072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Q_r , Q_c  via FQI / Double-DQN targets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argmax (Q_r − λ · Q_c)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↑ on violation,  λ ↓ on slack  (dual ascent)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REWARD SHAPING &amp; NETWORK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ideas that mattered most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6928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  =  −( α · P̂_active  +  β · SLA_signal  +  γ_t · Toggle 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02666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63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Active-power normalisation P̂_active ∈ [0, 1]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4128" y="32644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per-server idle floor and divide by the active ceiling — the agent only sees the slice of power it can actually move. Removes the constant-idle bias that otherwise dominates the gradient.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84048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queue-pressure shaping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24128" y="4041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violations fire only at deadline expiry. We add Σ max(0, −headroom_norm) so a useful gradient exists throughout the buildup phase, where actions actually matter — not just at the cliff.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45811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1772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4526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Invalid-action penalty + double masking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24128" y="4818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for impossible (job, server) pairs; mask applied at selection AND inside the TD bootstrap — closes the silent leak that lets bad actions contaminate Q_target.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535838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39496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4128" y="5303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  α = 1, β = 50  (baseline)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24128" y="5596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normalised in [0, 1], SLA signal un-normalised → β must be ≫ α to keep SLA the dominant short-term gradient. Re-tuned to α = 5, β = 60 once sleep actions made power a controllable signal (see extension slide).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309360" y="1691640"/>
            <a:ext cx="53949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309360" y="1691640"/>
            <a:ext cx="539496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31152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encoding &amp; network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49224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  =   4·N  +  4·K   =   220-dim (baseline)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9224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649224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4·N    server features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909828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909828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4·K    queue features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006840" y="338328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492240" y="3749040"/>
            <a:ext cx="507492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6492240" y="37490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 →  ReLU/Tanh  →  Linear 256  →  Activation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9006840" y="443484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6492240" y="4754880"/>
            <a:ext cx="2423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6492240" y="4754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Q-head  /  Policy head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492240" y="5120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= K·N + 1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(masked with −∞ on illegals)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9144000" y="4754880"/>
            <a:ext cx="242316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9144000" y="4754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Cost head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9144000" y="5120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  or   Q_c(s, a)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(CMDP variant only)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492240" y="5852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trunk reused across DQN, PPO and CMDP — only the heads differ. Sleep-aware extension grows N-channel inputs to 6·N and the action head to K·N + N + 1.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EXPERIMENTAL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fair, reproducible comparisons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95681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seed pools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ML-style split</a:t>
            </a:r>
            <a:r>
              <a:rPr lang="en-US" sz="110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train </a:t>
            </a: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+ 50 test seeds, offset by 10⁶ so workload streams cannot overlap. Greedy eval on the held-out pool — every reported number is on data the agent has never seen.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95681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everywhere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applied at selection AND inside the TD bootstrap (Q_next.masked_fill(-inf)). Skipping the second step is the silent DQN-killer — illegal actions become high-Q targets and the policy diverges.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0936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9568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heterogeneous fleet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224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cluster_seed = 0 fixed across every run → identical 3-tier (efficient/standard/power-hungry) fleet for every agent. Removes “fleet-luck” from A/B comparisons; all reward gaps are policy-driven.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23544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23544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41832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1956816"/>
            <a:ext cx="338328" cy="338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1268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Trace-sampled hybrid workload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41832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Google-v2 (cpu, mem, duration) marginals + tunable Poisson timing — solves the pure-replay saturation that flattens every agent at ~99% SLA, while keeping realistic heavy-tail job specs.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3703320"/>
            <a:ext cx="11247120" cy="246888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7200" y="3703320"/>
            <a:ext cx="109728" cy="2468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31520" y="3867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HARNESS  ·  ~5.2 K LOC end-to-end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a teammate can replay any run from a single .env + Pydantic request body.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134874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036" y="4837176"/>
            <a:ext cx="338328" cy="33832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9436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env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workload gens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9436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agents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26060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278892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58902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1316" y="4837176"/>
            <a:ext cx="338328" cy="33832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83464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Trainer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+ WandB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283464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logs/&lt;run&gt;.log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484632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5" name="Shape 37"/>
          <p:cNvSpPr/>
          <p:nvPr/>
        </p:nvSpPr>
        <p:spPr>
          <a:xfrm>
            <a:off x="502920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582930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1596" y="4837176"/>
            <a:ext cx="338328" cy="33832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07492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ThreadPoolExecutor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507492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/api/train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70866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Shape 42"/>
          <p:cNvSpPr/>
          <p:nvPr/>
        </p:nvSpPr>
        <p:spPr>
          <a:xfrm>
            <a:off x="726948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806958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1876" y="4837176"/>
            <a:ext cx="338328" cy="33832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31520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bus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731520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932688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7" name="Shape 47"/>
          <p:cNvSpPr/>
          <p:nvPr/>
        </p:nvSpPr>
        <p:spPr>
          <a:xfrm>
            <a:off x="950976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1030986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2156" y="4837176"/>
            <a:ext cx="338328" cy="33832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55548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· Monitor · Compare)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955548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UI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2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64" name="Text 53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EXTENSION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sleep / wake server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can now be put to sleep (standby = 5 % · P_idle) — makes scheduling decisions move power, not just SLA.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274320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71600" y="2715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S_t   ·  extended (6·N + 4·K)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71600" y="32278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per-server channels: sleep_state ∈ {asleep, waking, active}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 err="1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wake_remaining</a:t>
            </a: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countdown of unavailable steps after a wake action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masking trunk reused — sleeping servers are illegal dispatch targets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25146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09360" y="2514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01968" y="274320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223760" y="2715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A_t   ·  Discrete(K·N + N + 1)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223760" y="32278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region (K·N): same as baseline — assign queued job k to server 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region (N): flip server n between active ↔ asleep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(1): gated legal only when nothing fits and no useful toggle exists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443484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7200" y="443484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49808" y="466344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37160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 P  ·  sleep / wake model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371600" y="51480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Asleep: draws SLEEP_STANDBY_FACTOR · P_idle = 5 % of idle power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takes WAKEUP_DELAY = 1 step; server draws full P_idle, cannot accept jobs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shrunk N = 50 → 15 so dispatch + sleep choices actually matter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309360" y="443484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309360" y="443484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601968" y="466344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22376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r_t   ·  sleep-aware shaping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23760" y="51480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−( 5·P̂_active + 60·SLA_signal + TOGGLE_PENALTY · 1[toggled] 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toggle: 0.2 paid on sleep, free on wake — discourages flicker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1 → 5, β 50 → 60: power becomes a real signal once it is controllable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955DE107-4168-C1E0-86DD-58DB21D5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825496"/>
            <a:ext cx="338328" cy="338328"/>
          </a:xfrm>
          <a:prstGeom prst="rect">
            <a:avLst/>
          </a:prstGeom>
        </p:spPr>
      </p:pic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1CB899D8-D358-F40B-C852-A22F7F03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825496"/>
            <a:ext cx="338328" cy="338328"/>
          </a:xfrm>
          <a:prstGeom prst="rect">
            <a:avLst/>
          </a:prstGeom>
        </p:spPr>
      </p:pic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59769D1E-FD10-F7DF-51F1-B11461670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745736"/>
            <a:ext cx="338328" cy="338328"/>
          </a:xfrm>
          <a:prstGeom prst="rect">
            <a:avLst/>
          </a:prstGeom>
        </p:spPr>
      </p:pic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F00B889E-D9E2-51CA-CCC8-F590B2DF1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745736"/>
            <a:ext cx="338328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EXTENSION  — 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sleep / wake extension was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3444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Action-space surgery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ClusterEnv.action_space grows from K·N+1 to K·N+N+1. A small dispatcher routes each id to dispatch / toggle / wait, so the same agent code works for both the baseline and sleep-aware modes — switched by a single env flag.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16052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Power-model rewrite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Per-server power query is now branch-free over {asleep, waking, active}. Asleep draws SLEEP_STANDBY_FACTOR · P_idle; waking draws full P_idle but is masked from the dispatch action set until wake_remaining = 0.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0936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08660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Toggle-penalty design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224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cost charged only on sleep transitions, not on wakes. Asymmetry kills bang-bang flicker (which pays the wake-up tax without ever realising standby savings) yet leaves wake-up free when load arrives.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235440" y="1645920"/>
            <a:ext cx="2779776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235440" y="1645920"/>
            <a:ext cx="2779776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418320" y="187452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10012680" y="19019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reward re-tune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418320" y="25146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50→15 makes scheduling matter (was ~10× over-provisioned). SLA_DEADLINE 10→30 lifts the workload-imposed SLA floor that pinned every agent at 12.9%. α↑, β↑ rebalances the now-controllable power term.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3703320"/>
            <a:ext cx="11247120" cy="246888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7200" y="3703320"/>
            <a:ext cx="109728" cy="2468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31520" y="3867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  ·  what changed end-to-end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names one component of the stack and how it was modified to support sleep/wake.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134874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59436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ClusterEnv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sleep/wake actions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9436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K·N+1 → K·N+N+1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26060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278892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58902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283464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+ 3-state machine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283464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active/wake/sleep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484632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5" name="Shape 37"/>
          <p:cNvSpPr/>
          <p:nvPr/>
        </p:nvSpPr>
        <p:spPr>
          <a:xfrm>
            <a:off x="502920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582930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507492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toggle penalty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507492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asym. 0.2 / 0.0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70866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Shape 42"/>
          <p:cNvSpPr/>
          <p:nvPr/>
        </p:nvSpPr>
        <p:spPr>
          <a:xfrm>
            <a:off x="726948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806958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731520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.env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N=15, deadline 30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731520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α=5, β=60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932688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7" name="Shape 47"/>
          <p:cNvSpPr/>
          <p:nvPr/>
        </p:nvSpPr>
        <p:spPr>
          <a:xfrm>
            <a:off x="9509760" y="4617720"/>
            <a:ext cx="2103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10309860" y="4754880"/>
            <a:ext cx="502920" cy="502920"/>
          </a:xfrm>
          <a:prstGeom prst="ellipse">
            <a:avLst/>
          </a:prstGeom>
          <a:solidFill>
            <a:srgbClr val="E2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49"/>
          <p:cNvSpPr/>
          <p:nvPr/>
        </p:nvSpPr>
        <p:spPr>
          <a:xfrm>
            <a:off x="9555480" y="5330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defaults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Sweep pages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9555480" y="5779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in-lockstep w/ env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2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64" name="Text 53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1C17446F-DB84-FC50-0ABF-2C274DBBA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4837176"/>
            <a:ext cx="338328" cy="338328"/>
          </a:xfrm>
          <a:prstGeom prst="rect">
            <a:avLst/>
          </a:prstGeom>
        </p:spPr>
      </p:pic>
      <p:pic>
        <p:nvPicPr>
          <p:cNvPr id="66" name="Image 5" descr="preencoded.png">
            <a:extLst>
              <a:ext uri="{FF2B5EF4-FFF2-40B4-BE49-F238E27FC236}">
                <a16:creationId xmlns:a16="http://schemas.microsoft.com/office/drawing/2014/main" id="{B201E2C5-E54F-C721-5D1F-F7AB26631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16" y="4837176"/>
            <a:ext cx="338328" cy="338328"/>
          </a:xfrm>
          <a:prstGeom prst="rect">
            <a:avLst/>
          </a:prstGeom>
        </p:spPr>
      </p:pic>
      <p:pic>
        <p:nvPicPr>
          <p:cNvPr id="67" name="Image 6" descr="preencoded.png">
            <a:extLst>
              <a:ext uri="{FF2B5EF4-FFF2-40B4-BE49-F238E27FC236}">
                <a16:creationId xmlns:a16="http://schemas.microsoft.com/office/drawing/2014/main" id="{D1959536-DA31-8D22-09C7-09661A8F2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4837176"/>
            <a:ext cx="338328" cy="338328"/>
          </a:xfrm>
          <a:prstGeom prst="rect">
            <a:avLst/>
          </a:prstGeom>
        </p:spPr>
      </p:pic>
      <p:pic>
        <p:nvPicPr>
          <p:cNvPr id="68" name="Image 7" descr="preencoded.png">
            <a:extLst>
              <a:ext uri="{FF2B5EF4-FFF2-40B4-BE49-F238E27FC236}">
                <a16:creationId xmlns:a16="http://schemas.microsoft.com/office/drawing/2014/main" id="{EE56BA10-88DC-D655-22E2-A0466E02C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6" y="4837176"/>
            <a:ext cx="338328" cy="338328"/>
          </a:xfrm>
          <a:prstGeom prst="rect">
            <a:avLst/>
          </a:prstGeom>
        </p:spPr>
      </p:pic>
      <p:pic>
        <p:nvPicPr>
          <p:cNvPr id="69" name="Image 8" descr="preencoded.png">
            <a:extLst>
              <a:ext uri="{FF2B5EF4-FFF2-40B4-BE49-F238E27FC236}">
                <a16:creationId xmlns:a16="http://schemas.microsoft.com/office/drawing/2014/main" id="{8C2FCE15-6DC4-6CB9-A256-79CE14055D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2156" y="4837176"/>
            <a:ext cx="338328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RESULTS  —  SYNTHETIC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workload  ·  N=50 het. fleet  ·  500 episodes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5836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58368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pool  ·  50 unseen seeds  ·  greedy eval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592883"/>
              </p:ext>
            </p:extLst>
          </p:nvPr>
        </p:nvGraphicFramePr>
        <p:xfrm>
          <a:off x="640080" y="2468880"/>
          <a:ext cx="6263639" cy="2304288"/>
        </p:xfrm>
        <a:graphic>
          <a:graphicData uri="http://schemas.openxmlformats.org/drawingml/2006/table">
            <a:tbl>
              <a:tblPr/>
              <a:tblGrid>
                <a:gridCol w="200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1,089,191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−105.89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1,128,745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−120.6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1,207,832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1,096,902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Agentic-RL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−137.66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1,211,862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1,104,786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9377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1, β = 50  ·  heterogenous fleet 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23760" y="1691640"/>
            <a:ext cx="4480560" cy="448056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23760" y="1691640"/>
            <a:ext cx="109728" cy="448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4066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6829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leads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10.92 % SLA AND lowest power (1.089 M). On clean Poisson with uniform job specs, a myopic length-aware heuristic dominates both axes — no learned agent beats it.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406640" y="32918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332841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 the strongest learner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0" y="3538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12.50 % SLA — clearly ahead of every other learned agent and both heuristic fall-backs (RR, DQN), sitting just 1.6 pt behind SJF on SLA and second-best on reward.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06640" y="42519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28853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0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struggles at scale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772400" y="4498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SLA (17.06 %), about 1.2 pt behind RR — the K·N+1 = 251-way joint discrete action space is a known DQN scaling weakness, not a true policy collapse.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406640" y="52120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524865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72400" y="5166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Agentic-RL trails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772400" y="5458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16.70 % SLA — second-worst. The Bernoulli supervisor flips between sub-agents step-to-step, inducing high variance and preventing either critic from converging on a coherent policy.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3D111-E4E4-9FA3-82B0-B54DD1A2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FC214D-527F-14ED-51FE-883AB250571D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83CCA8-03A7-8FEF-8085-E862194EB7EB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RESULTS  —  SYNTHETIC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E0A48E-E599-E77E-DCA2-C2FF820E08A7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workload  ·  N=50 het. fleet  ·  500 episodes</a:t>
            </a:r>
            <a:endParaRPr lang="en-US" sz="28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92B92E6-0FEA-8019-3AE3-06841C9811BF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84252F80-5CF1-6124-F67E-D2BE95382EF5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94BE352C-14C3-B521-54CA-C8F36B3BEB11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pic>
        <p:nvPicPr>
          <p:cNvPr id="7" name="Picture 6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A9E24787-CA56-2983-8DBD-C8EFC4D87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7" y="1453896"/>
            <a:ext cx="6514179" cy="2447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FEBBB-DC91-5D33-41D8-0D4CA17CF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01503"/>
            <a:ext cx="6525036" cy="2440576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578BD115-20F3-E5D4-380F-51EF92EC4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857" y="3901504"/>
            <a:ext cx="3944381" cy="2446140"/>
          </a:xfrm>
          <a:prstGeom prst="rect">
            <a:avLst/>
          </a:prstGeom>
        </p:spPr>
      </p:pic>
      <p:pic>
        <p:nvPicPr>
          <p:cNvPr id="16" name="Picture 1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F505073B-5507-3AF1-6630-C54DD5610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857" y="1437312"/>
            <a:ext cx="3944381" cy="24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22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RESULTS  —  GOOGLE v2 (sampled)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Real-trace job-spec distribution + Poisson timing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5836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58368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pool  ·  same seeds &amp; fleet as synthetic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192039"/>
              </p:ext>
            </p:extLst>
          </p:nvPr>
        </p:nvGraphicFramePr>
        <p:xfrm>
          <a:off x="640080" y="2468880"/>
          <a:ext cx="6263639" cy="2304288"/>
        </p:xfrm>
        <a:graphic>
          <a:graphicData uri="http://schemas.openxmlformats.org/drawingml/2006/table">
            <a:tbl>
              <a:tblPr/>
              <a:tblGrid>
                <a:gridCol w="200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1,013,201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Agentic-RL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1,013,322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−179.8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1,011,209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1,012,233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1,012,712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−210.6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1,012,195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9377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CPU/mem/duration sampled from Google v2 trace, Poisson timing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23760" y="1691640"/>
            <a:ext cx="4480560" cy="448056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23760" y="1691640"/>
            <a:ext cx="109728" cy="448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4066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CROSS-WORKLOAD ANALYSIS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6829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takes the lead under distribution shift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20.49 % (PPO) vs. worst 26.31 % (RR) — a 5.8-pt spread, comparable to the 6.1-pt spread on synthetic, but the ordering flips: PPO is now ahead of every heuristic, not chasing them.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406640" y="32918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332841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leads, the rest cluster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0" y="3538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at 20.49 % is roughly 2 pt ahead of SJF (22.47 %); DQN and Agentic-RL fall within 0.2 pt of SJF, statistically tied. Realistic job specs let a learned policy exploit timing structure that heuristics cannot see.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06640" y="42519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28853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0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is the laggard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772400" y="4498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26.31 % SLA — RR's blind cycling cannot cope with the heavier-tailed job durations in real-trace specs.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406640" y="52120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524865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72400" y="5166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 essentially flat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772400" y="5458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within ±0.2 % of each other on mean power — the problem is SLA-bound under this workload, not power-bound. The interesting differentiation lives on the SLA axis, where PPO's 2-pt lead is the headline.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6198B-F5E1-6BF7-8980-EBCCF729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80023E-86DD-98A4-5959-8757239F527F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398947-89BF-2970-159C-612742196D8A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RESULTS  —  GOOGLE v2 (sampled)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B8D590-95A1-5BCB-AA55-7F7E42BE90A0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Real-trace job-spec distribution + Poisson timing</a:t>
            </a:r>
            <a:endParaRPr lang="en-US" sz="28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659831FC-0CE8-CFA8-4790-7C1C318DC9B9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93654F9A-0AFC-ED3E-10CC-2BDB6E451D38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FFE44E8C-5684-2459-A8AC-34154310033C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pic>
        <p:nvPicPr>
          <p:cNvPr id="6" name="Picture 5" descr="A colorful graph with numbers and lines&#10;&#10;AI-generated content may be incorrect.">
            <a:extLst>
              <a:ext uri="{FF2B5EF4-FFF2-40B4-BE49-F238E27FC236}">
                <a16:creationId xmlns:a16="http://schemas.microsoft.com/office/drawing/2014/main" id="{F55E21D6-089E-7B0D-AC6D-64583CB4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17320"/>
            <a:ext cx="6525037" cy="2484927"/>
          </a:xfrm>
          <a:prstGeom prst="rect">
            <a:avLst/>
          </a:prstGeom>
        </p:spPr>
      </p:pic>
      <p:pic>
        <p:nvPicPr>
          <p:cNvPr id="8" name="Picture 7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8FC72D25-0E35-CA69-4F88-92E2DA4CD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3832610"/>
            <a:ext cx="6525037" cy="2444086"/>
          </a:xfrm>
          <a:prstGeom prst="rect">
            <a:avLst/>
          </a:prstGeom>
        </p:spPr>
      </p:pic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6795E70-7D78-2A3B-B3A2-9978DACA5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858" y="1417319"/>
            <a:ext cx="3944382" cy="2333149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F5EFBD5E-785E-47B5-8CD9-9010024A7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858" y="3832610"/>
            <a:ext cx="3944382" cy="244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61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9A65-8DB1-F88D-F1F2-1387B09E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52E5F3-D547-DBB0-47B4-F82164E357AB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411D76-5086-AE66-CFD9-6ED879A061E0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RESULTS  —  SYNTHETIC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950628-1C20-DBE6-254E-C00A2AB96094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workload  | Sleep/Wake server Actions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EFA289-1CCB-FDE7-6622-0BE24338ADAB}"/>
              </a:ext>
            </a:extLst>
          </p:cNvPr>
          <p:cNvSpPr/>
          <p:nvPr/>
        </p:nvSpPr>
        <p:spPr>
          <a:xfrm>
            <a:off x="457200" y="1691640"/>
            <a:ext cx="65836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FB48BF-03B0-FB80-0038-FC8F5405705D}"/>
              </a:ext>
            </a:extLst>
          </p:cNvPr>
          <p:cNvSpPr/>
          <p:nvPr/>
        </p:nvSpPr>
        <p:spPr>
          <a:xfrm>
            <a:off x="457200" y="1691640"/>
            <a:ext cx="658368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782F189-165B-2618-A31C-DE353318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5AADE76-C7C3-99CD-68A6-7DFDDF23BF58}"/>
              </a:ext>
            </a:extLst>
          </p:cNvPr>
          <p:cNvSpPr/>
          <p:nvPr/>
        </p:nvSpPr>
        <p:spPr>
          <a:xfrm>
            <a:off x="1078992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pool  ·  same seeds &amp; fleet as synthetic</a:t>
            </a:r>
            <a:endParaRPr lang="en-US" sz="13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0B8BE0B-16A2-46CD-D2D7-AB62E39BC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41031"/>
              </p:ext>
            </p:extLst>
          </p:nvPr>
        </p:nvGraphicFramePr>
        <p:xfrm>
          <a:off x="640080" y="2468880"/>
          <a:ext cx="6263639" cy="2304288"/>
        </p:xfrm>
        <a:graphic>
          <a:graphicData uri="http://schemas.openxmlformats.org/drawingml/2006/table">
            <a:tbl>
              <a:tblPr/>
              <a:tblGrid>
                <a:gridCol w="200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−1191.61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997,579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Agentic-RL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−1372.01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1,041,943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33.95 </a:t>
                      </a: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−1111.84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1.647,891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−1128.24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1,584,518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−1111.69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1,659,447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−1081.31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1,643,187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A5A4971B-A428-D50E-28EE-4F850F5BDBC3}"/>
              </a:ext>
            </a:extLst>
          </p:cNvPr>
          <p:cNvSpPr/>
          <p:nvPr/>
        </p:nvSpPr>
        <p:spPr>
          <a:xfrm>
            <a:off x="640080" y="49377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CPU/mem/duration sampled from Google v2 trace, Poisson timing</a:t>
            </a:r>
            <a:endParaRPr lang="en-US" sz="10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B1D31E6-9EEC-EADE-AFFB-1930D046E2B2}"/>
              </a:ext>
            </a:extLst>
          </p:cNvPr>
          <p:cNvSpPr/>
          <p:nvPr/>
        </p:nvSpPr>
        <p:spPr>
          <a:xfrm>
            <a:off x="7223760" y="1691640"/>
            <a:ext cx="4480560" cy="448056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5031803-3B8D-DCC9-10B0-1784CE8933EF}"/>
              </a:ext>
            </a:extLst>
          </p:cNvPr>
          <p:cNvSpPr/>
          <p:nvPr/>
        </p:nvSpPr>
        <p:spPr>
          <a:xfrm>
            <a:off x="7223760" y="1691640"/>
            <a:ext cx="109728" cy="448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1209AFB-C60D-67C1-E4E6-2B407EE0E58D}"/>
              </a:ext>
            </a:extLst>
          </p:cNvPr>
          <p:cNvSpPr/>
          <p:nvPr/>
        </p:nvSpPr>
        <p:spPr>
          <a:xfrm>
            <a:off x="74066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WAKE ANALYSIS</a:t>
            </a:r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E391251-255D-3E5B-41AF-B172DA713FC4}"/>
              </a:ext>
            </a:extLst>
          </p:cNvPr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E470797B-84AD-910C-DA99-4FA376952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68296"/>
            <a:ext cx="219456" cy="219456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4636B6B7-BCA1-7CF5-CBA8-147B108953EF}"/>
              </a:ext>
            </a:extLst>
          </p:cNvPr>
          <p:cNvSpPr/>
          <p:nvPr/>
        </p:nvSpPr>
        <p:spPr>
          <a:xfrm>
            <a:off x="77724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 the only balanced learner</a:t>
            </a:r>
            <a:endParaRPr lang="en-US" sz="1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2D1A634-E9B3-AF72-50A3-FE01DED78DD1}"/>
              </a:ext>
            </a:extLst>
          </p:cNvPr>
          <p:cNvSpPr/>
          <p:nvPr/>
        </p:nvSpPr>
        <p:spPr>
          <a:xfrm>
            <a:off x="777240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matches heuristic SLA (4.03 %) — tied with RR and within 1 pt of FFD's 3.25 % — while pulling mean power down to 1.58 M, ~4–5 % below every heuristic. The only agent that uses sleep without breaking the SLA budget.</a:t>
            </a:r>
            <a:endParaRPr lang="en-US" sz="10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155DB47-F121-557A-5811-22714A7FEDF0}"/>
              </a:ext>
            </a:extLst>
          </p:cNvPr>
          <p:cNvSpPr/>
          <p:nvPr/>
        </p:nvSpPr>
        <p:spPr>
          <a:xfrm>
            <a:off x="7406640" y="32918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FEC920BC-9B7C-43ED-D5DF-E23527B27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3328416"/>
            <a:ext cx="219456" cy="219456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5471D89F-F7D0-9377-A15F-DDAE5B7D30D5}"/>
              </a:ext>
            </a:extLst>
          </p:cNvPr>
          <p:cNvSpPr/>
          <p:nvPr/>
        </p:nvSpPr>
        <p:spPr>
          <a:xfrm>
            <a:off x="777240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&amp; Agentic-RL over-sleep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E36409B-D607-A647-C46B-46121F53F5BF}"/>
              </a:ext>
            </a:extLst>
          </p:cNvPr>
          <p:cNvSpPr/>
          <p:nvPr/>
        </p:nvSpPr>
        <p:spPr>
          <a:xfrm>
            <a:off x="7772400" y="3538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slam servers asleep too aggressively. DQN drops mean power to 997 k (≈40 % below heuristics) but lets SLA climb to 26.67 %; Agentic-RL is worse on both axes than DQN — 1.04 M power and 33.95 % SLA — the supervisor's flip-flopping prevents either sub-policy from settling.</a:t>
            </a:r>
            <a:endParaRPr lang="en-US" sz="10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D19FBF0-26BF-1F76-FAA6-8F0D18B7F87C}"/>
              </a:ext>
            </a:extLst>
          </p:cNvPr>
          <p:cNvSpPr/>
          <p:nvPr/>
        </p:nvSpPr>
        <p:spPr>
          <a:xfrm>
            <a:off x="7406640" y="42519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3793DB24-58D6-DCCF-8669-51EC4C701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288536"/>
            <a:ext cx="219456" cy="219456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97B7C530-5481-9E25-6CD8-E9F6CB41D249}"/>
              </a:ext>
            </a:extLst>
          </p:cNvPr>
          <p:cNvSpPr/>
          <p:nvPr/>
        </p:nvSpPr>
        <p:spPr>
          <a:xfrm>
            <a:off x="7772400" y="426545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cluster, can't touch power</a:t>
            </a:r>
            <a:endParaRPr lang="en-US" sz="12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D9BCFA95-DA5F-8CA7-B7BC-A58FB59F3F13}"/>
              </a:ext>
            </a:extLst>
          </p:cNvPr>
          <p:cNvSpPr/>
          <p:nvPr/>
        </p:nvSpPr>
        <p:spPr>
          <a:xfrm>
            <a:off x="7772400" y="4498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FFD / SJF / RR all sit around 1.64–1.66 M power and 3.25–4.08 % SLA — a tight 4-way tie. Without sleep/wake actions in their playbook, they have no lever to move power; SLA is the only axis they differentiate on.</a:t>
            </a:r>
            <a:endParaRPr lang="en-US" sz="10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EF1F0974-CEB7-E441-BC22-D60F92206009}"/>
              </a:ext>
            </a:extLst>
          </p:cNvPr>
          <p:cNvSpPr/>
          <p:nvPr/>
        </p:nvSpPr>
        <p:spPr>
          <a:xfrm>
            <a:off x="7406640" y="52120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91830E4F-10A8-E9B9-4E75-02C298C40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5248656"/>
            <a:ext cx="219456" cy="219456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155B0F0D-A48F-0B5B-B4FE-0449D0D98CD5}"/>
              </a:ext>
            </a:extLst>
          </p:cNvPr>
          <p:cNvSpPr/>
          <p:nvPr/>
        </p:nvSpPr>
        <p:spPr>
          <a:xfrm>
            <a:off x="7772400" y="5166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Sleep/wake unlocks a real power axis</a:t>
            </a:r>
            <a:endParaRPr lang="en-US" sz="12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4ECFCD79-5ED9-B5F9-199B-6A548597B5F0}"/>
              </a:ext>
            </a:extLst>
          </p:cNvPr>
          <p:cNvSpPr/>
          <p:nvPr/>
        </p:nvSpPr>
        <p:spPr>
          <a:xfrm>
            <a:off x="7772400" y="5458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spread is now 660 k (≈40 %) — DQN 997 k vs FFD 1.66 M — versus the ±0.5 % flat band on the always-on baseline. The headline isn't who wins outright; it's that the agents finally have a power lever, and PPO is the only one that learned to pull it without wrecking SLA.</a:t>
            </a:r>
            <a:endParaRPr lang="en-US" sz="105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AD726001-336C-5C18-DEAC-8C0F05664BBA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56A68F6E-9748-E770-EF34-31AF523AD51E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FA819E5C-F5A1-6F37-9D3F-000C056495C8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27450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8271C-AEBD-AF7F-0E5C-6BBAC4EB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57AD39-E678-0C6C-B50B-AE2459BDAB00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14EBCC-90BB-6A65-719A-F2967B6BFB7E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RESULTS  —  SYNTHETIC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8C6765-7226-8972-676F-6462049C591F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workload  | Sleep/Wake server Actions</a:t>
            </a:r>
            <a:endParaRPr lang="en-US" sz="28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F904B6B2-142E-596B-10AC-A84BFF38C4B2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5963EF4A-6B1A-8390-4323-DFE2BE320EC4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526FC2B3-309A-51DF-0C43-B333A6869716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3EAB0EFB-8FF9-BCCA-D7A7-D322D121F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7" y="1417101"/>
            <a:ext cx="6514179" cy="2485366"/>
          </a:xfrm>
          <a:prstGeom prst="rect">
            <a:avLst/>
          </a:prstGeom>
        </p:spPr>
      </p:pic>
      <p:pic>
        <p:nvPicPr>
          <p:cNvPr id="8" name="Picture 7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F7BAF443-7848-D8E0-B674-26149BAC9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57" y="3901503"/>
            <a:ext cx="6514179" cy="2445615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72E55D2-1737-5656-F5DC-E4EE999B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858" y="1417101"/>
            <a:ext cx="3944382" cy="2370928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BDF8FBFF-9CEF-0D77-C8CD-7E3B1F4696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857" y="3901503"/>
            <a:ext cx="3944381" cy="244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5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1789B-6B11-2999-6FA1-CB609046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32E281-4AC8-261B-B56F-65A5EF6AA472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2D5F24-1AA6-D0F3-C333-308C631B5430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RESULTS  —  GOOGLE v2 (sampled)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ECEA6C-CB5F-1800-0334-E022AF7FBBE4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Real-trace job-spec distribution + Sleep/Wake server action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90DA6E-A9A2-5A03-9CBB-2DE5BE79F1CB}"/>
              </a:ext>
            </a:extLst>
          </p:cNvPr>
          <p:cNvSpPr/>
          <p:nvPr/>
        </p:nvSpPr>
        <p:spPr>
          <a:xfrm>
            <a:off x="457200" y="1691640"/>
            <a:ext cx="65836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62C04B-3B03-0557-C343-2126F66D6342}"/>
              </a:ext>
            </a:extLst>
          </p:cNvPr>
          <p:cNvSpPr/>
          <p:nvPr/>
        </p:nvSpPr>
        <p:spPr>
          <a:xfrm>
            <a:off x="457200" y="1691640"/>
            <a:ext cx="6583680" cy="548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3D5A8E9-3A71-B5F7-AA16-E3E1AA5B4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1C7F7AD-D2EE-B0DB-5EC5-AB9255EDF884}"/>
              </a:ext>
            </a:extLst>
          </p:cNvPr>
          <p:cNvSpPr/>
          <p:nvPr/>
        </p:nvSpPr>
        <p:spPr>
          <a:xfrm>
            <a:off x="1078992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pool  ·  same seeds &amp; fleet as synthetic</a:t>
            </a:r>
            <a:endParaRPr lang="en-US" sz="13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5348372E-7EA0-B376-B24E-8341D08C7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55359"/>
              </p:ext>
            </p:extLst>
          </p:nvPr>
        </p:nvGraphicFramePr>
        <p:xfrm>
          <a:off x="640080" y="2468880"/>
          <a:ext cx="6263639" cy="2304288"/>
        </p:xfrm>
        <a:graphic>
          <a:graphicData uri="http://schemas.openxmlformats.org/drawingml/2006/table">
            <a:tbl>
              <a:tblPr/>
              <a:tblGrid>
                <a:gridCol w="200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−372.60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256,996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10.68 </a:t>
                      </a: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Agentic-RL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−1383.17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979,801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−1232.34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1,604,132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−1257.29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1,572,045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−1257.06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1,609,294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−1259.57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1,605,769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AC91AABF-AB46-C283-F121-BC77418768C5}"/>
              </a:ext>
            </a:extLst>
          </p:cNvPr>
          <p:cNvSpPr/>
          <p:nvPr/>
        </p:nvSpPr>
        <p:spPr>
          <a:xfrm>
            <a:off x="640080" y="49377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CPU/mem/duration sampled from Google v2 trace, Poisson timing</a:t>
            </a:r>
            <a:endParaRPr lang="en-US" sz="10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93C11FA-0E14-E842-33A8-DD3EA4252E68}"/>
              </a:ext>
            </a:extLst>
          </p:cNvPr>
          <p:cNvSpPr/>
          <p:nvPr/>
        </p:nvSpPr>
        <p:spPr>
          <a:xfrm>
            <a:off x="7223760" y="1691640"/>
            <a:ext cx="4480560" cy="448056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9FBDEE8-DA8B-488C-0F0F-1FFCBA8B1817}"/>
              </a:ext>
            </a:extLst>
          </p:cNvPr>
          <p:cNvSpPr/>
          <p:nvPr/>
        </p:nvSpPr>
        <p:spPr>
          <a:xfrm>
            <a:off x="7223760" y="1691640"/>
            <a:ext cx="109728" cy="448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CA5E3E8-B44B-4E58-8177-2D42E190DC0A}"/>
              </a:ext>
            </a:extLst>
          </p:cNvPr>
          <p:cNvSpPr/>
          <p:nvPr/>
        </p:nvSpPr>
        <p:spPr>
          <a:xfrm>
            <a:off x="74066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WAKE  ·  GOOGLE v2 ANALYSIS</a:t>
            </a:r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D51F724-3C9C-B25D-20D3-76A5B2719260}"/>
              </a:ext>
            </a:extLst>
          </p:cNvPr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ACFBEE0-C20A-4675-6C08-C43612E39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68296"/>
            <a:ext cx="219456" cy="219456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44C9E12A-99B5-BE57-05D4-44911BB6C07F}"/>
              </a:ext>
            </a:extLst>
          </p:cNvPr>
          <p:cNvSpPr/>
          <p:nvPr/>
        </p:nvSpPr>
        <p:spPr>
          <a:xfrm>
            <a:off x="77724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dominates both axes</a:t>
            </a:r>
            <a:endParaRPr lang="en-US" sz="1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E37BE00-80CB-A988-B102-AC3C88FF3606}"/>
              </a:ext>
            </a:extLst>
          </p:cNvPr>
          <p:cNvSpPr/>
          <p:nvPr/>
        </p:nvSpPr>
        <p:spPr>
          <a:xfrm>
            <a:off x="777240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SLA (10.68 %) AND lowest power (257 k, ~84 % below the heuristic cluster) — DQN's value-iteration head exploits the Google-v2 timing structure, putting servers to sleep aggressively without missing deadlines. Reward (−372) is in a different league.</a:t>
            </a:r>
            <a:endParaRPr lang="en-US" sz="10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6DF92E1-BAF1-796A-326A-82B9A6970C3B}"/>
              </a:ext>
            </a:extLst>
          </p:cNvPr>
          <p:cNvSpPr/>
          <p:nvPr/>
        </p:nvSpPr>
        <p:spPr>
          <a:xfrm>
            <a:off x="7406640" y="32918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25026C86-C8A9-A90F-1C73-1281A69A6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3328416"/>
            <a:ext cx="219456" cy="219456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09E22448-24E8-25ED-A294-DEAF813AA3F0}"/>
              </a:ext>
            </a:extLst>
          </p:cNvPr>
          <p:cNvSpPr/>
          <p:nvPr/>
        </p:nvSpPr>
        <p:spPr>
          <a:xfrm>
            <a:off x="777240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 the steady balanced learner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926A387-7FAE-EF68-6319-6B82A0FE309C}"/>
              </a:ext>
            </a:extLst>
          </p:cNvPr>
          <p:cNvSpPr/>
          <p:nvPr/>
        </p:nvSpPr>
        <p:spPr>
          <a:xfrm>
            <a:off x="7772400" y="3538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11.30 % SLA — best among the heuristic-level-power agents and ~0.4–1.6 pt ahead of every heuristic. Mean power 1.572 M, ~2 % below the heuristic cluster. Confirms PPO's synthetic result: balanced gains, no SLA sacrifice.</a:t>
            </a:r>
            <a:endParaRPr lang="en-US" sz="10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4AF2684-9494-7445-CEC9-7D4AD34421F3}"/>
              </a:ext>
            </a:extLst>
          </p:cNvPr>
          <p:cNvSpPr/>
          <p:nvPr/>
        </p:nvSpPr>
        <p:spPr>
          <a:xfrm>
            <a:off x="7406640" y="42519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8C33EC9F-66A2-7BFD-74A5-8762549A1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288536"/>
            <a:ext cx="219456" cy="219456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2DDBE3AB-32BC-5842-A03E-8A970C9E6AE0}"/>
              </a:ext>
            </a:extLst>
          </p:cNvPr>
          <p:cNvSpPr/>
          <p:nvPr/>
        </p:nvSpPr>
        <p:spPr>
          <a:xfrm>
            <a:off x="7772400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cluster, no power lever</a:t>
            </a:r>
            <a:endParaRPr lang="en-US" sz="12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8F34874-6292-EBD8-79D3-69EDF46FA7FC}"/>
              </a:ext>
            </a:extLst>
          </p:cNvPr>
          <p:cNvSpPr/>
          <p:nvPr/>
        </p:nvSpPr>
        <p:spPr>
          <a:xfrm>
            <a:off x="7772400" y="4498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/ FFD / RR all sit at 1.60–1.61 M power with 11.65–12.90 % SLA — a tight 3-way tie. Without sleep/wake actions they cannot move power, and SLA varies only weakly with dispatch order under real-trace specs.</a:t>
            </a:r>
            <a:endParaRPr lang="en-US" sz="10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805BCD62-37EA-ADB0-70E6-ECFE8E574A08}"/>
              </a:ext>
            </a:extLst>
          </p:cNvPr>
          <p:cNvSpPr/>
          <p:nvPr/>
        </p:nvSpPr>
        <p:spPr>
          <a:xfrm>
            <a:off x="7406640" y="52120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C6108527-075C-47DA-E933-00B9CBBF1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5248656"/>
            <a:ext cx="219456" cy="219456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209944EC-B1A5-E970-5AC5-A46D8AD1EC0D}"/>
              </a:ext>
            </a:extLst>
          </p:cNvPr>
          <p:cNvSpPr/>
          <p:nvPr/>
        </p:nvSpPr>
        <p:spPr>
          <a:xfrm>
            <a:off x="7772400" y="5166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Agentic-RL collapses on SLA</a:t>
            </a:r>
            <a:endParaRPr lang="en-US" sz="12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70692E7A-0EDA-DF1A-FFD4-AE268699CC85}"/>
              </a:ext>
            </a:extLst>
          </p:cNvPr>
          <p:cNvSpPr/>
          <p:nvPr/>
        </p:nvSpPr>
        <p:spPr>
          <a:xfrm>
            <a:off x="7772400" y="5458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36.52 % SLA — far worse than any other agent — even though power (980 k) is in DQN's neighbourhood. The supervisor's Bernoulli flip between sub-agents prevents the SLA critic from holding the deadline; flagged for redesign in Future Work.</a:t>
            </a:r>
            <a:endParaRPr lang="en-US" sz="105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BFF4E963-1FA4-24C6-BA33-7F0831FFFC90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F73E4159-AF16-928F-E228-C1C5A09CF82F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B2A1FE0B-122E-417F-1CCE-AC01521EE39F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6486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415D1-0CE7-1E97-7A3C-72DE992B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4F91CC-9410-5336-A825-EE22F232172E}"/>
              </a:ext>
            </a:extLst>
          </p:cNvPr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1A9271-B281-F64E-0FCB-4062B546F08C}"/>
              </a:ext>
            </a:extLst>
          </p:cNvPr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RESULTS  —  GOOGLE v2 (sampled)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CF4ADF-0A69-793F-172C-D897895CA924}"/>
              </a:ext>
            </a:extLst>
          </p:cNvPr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Real-trace job-spec distribution + Sleep/Wake server action</a:t>
            </a:r>
            <a:endParaRPr lang="en-US" sz="28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53F51DEF-03C8-6BD8-0590-F3D385F93F50}"/>
              </a:ext>
            </a:extLst>
          </p:cNvPr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711CA04-ADC7-85BC-AB7E-7283055A304B}"/>
              </a:ext>
            </a:extLst>
          </p:cNvPr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C09A9F42-7321-7395-A7C4-FB0530DA20EF}"/>
              </a:ext>
            </a:extLst>
          </p:cNvPr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pic>
        <p:nvPicPr>
          <p:cNvPr id="12" name="Picture 11" descr="A graph of colored lines&#10;&#10;AI-generated content may be incorrect.">
            <a:extLst>
              <a:ext uri="{FF2B5EF4-FFF2-40B4-BE49-F238E27FC236}">
                <a16:creationId xmlns:a16="http://schemas.microsoft.com/office/drawing/2014/main" id="{5EE75C66-FCBC-5AEF-4927-793E8E852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525037" cy="2484928"/>
          </a:xfrm>
          <a:prstGeom prst="rect">
            <a:avLst/>
          </a:prstGeom>
        </p:spPr>
      </p:pic>
      <p:pic>
        <p:nvPicPr>
          <p:cNvPr id="36" name="Picture 35" descr="A graph of a number of numbers and a line&#10;&#10;AI-generated content may be incorrect.">
            <a:extLst>
              <a:ext uri="{FF2B5EF4-FFF2-40B4-BE49-F238E27FC236}">
                <a16:creationId xmlns:a16="http://schemas.microsoft.com/office/drawing/2014/main" id="{C54DAEFB-3F4B-A6DC-FBA1-765773CC7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859" y="1417320"/>
            <a:ext cx="3944381" cy="24152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DA9732-91C1-DBCF-46FA-0F49D38B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858" y="3869341"/>
            <a:ext cx="3944382" cy="2577179"/>
          </a:xfrm>
          <a:prstGeom prst="rect">
            <a:avLst/>
          </a:prstGeom>
        </p:spPr>
      </p:pic>
      <p:pic>
        <p:nvPicPr>
          <p:cNvPr id="40" name="Picture 39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69E096D8-3EF3-7B66-F116-C757B7B3C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3902248"/>
            <a:ext cx="6525037" cy="25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82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OFFLINE CMDP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 —  what offline-RL can and cannot guarantee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3756" y="1691640"/>
            <a:ext cx="3721608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756" y="1691640"/>
            <a:ext cx="3721608" cy="5943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183794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0684" y="16916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" y="2468880"/>
            <a:ext cx="3264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CMDP solver: Q_r (reward) + Q_c (SLA cost) trained jointly via FQI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π = argmax (Q_r − λ · Q_c), with λ updated by online dual ascent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CQL-style conservative penalty keeps Q_c honest on out-of-distribution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logged transitions from a tunable RR / SJF / FFD + uniform mix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React page: live FQI loss, λ trajectory, slack diagnostic — one-click reproducible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19956" y="1691640"/>
            <a:ext cx="3721608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19956" y="1691640"/>
            <a:ext cx="3721608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183794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884" y="16916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48556" y="2468880"/>
            <a:ext cx="3264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FQI was over-optimistic: Q_c predicted ~0 cost on unseen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CQL the policy walked off-distribution, hitting 13 % SLA while believing it was safe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CQL penalty fixed it cleanly — policy stayed in-distribution and tracked the dataset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SLA matched the demonstrator's average (~14 %), exactly as offline-RL theory predicts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stable, well-behaved offline learner — bounded by its data, not by its algorithm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6156" y="1691640"/>
            <a:ext cx="3721608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106156" y="1691640"/>
            <a:ext cx="37216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48" y="183794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73084" y="16916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334756" y="2468880"/>
            <a:ext cx="3264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CMDP is the right tool when live exploration is unsafe — and it works as advertised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SLA targets just need a stronger demonstrator OR an online dual-update extension (PPO-Lagrangian)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with a one-click UI — both the working solver and the ceiling diagnostic ship as deliverables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takeaways and what we'd build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691640"/>
          </a:xfrm>
          <a:prstGeom prst="rect">
            <a:avLst/>
          </a:prstGeom>
          <a:solidFill>
            <a:srgbClr val="0F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09728" cy="1691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TAKEAWAYS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21945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proposed approaches (Agentic + Offline-CMDP) shipped end-to-end through one FastAPI + React UI.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912" y="21945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5391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clean Poisson, SJF beats every learned agent on both SLA and power — PPO closes the gap (12.5 % vs 10.9 % SLA) but doesn't pass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Google-v2-sampled the band tightens to 4 pts; DQN, Agentic-RL and PPO become statistically tied with SJF — distribution shift erases the heuristic edge.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539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539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CMDP hits the demonstrator-ceiling wall: Lagrangian relaxation alone cannot deliver hard SLA guarantees.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NEXT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886200"/>
            <a:ext cx="259232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886200"/>
            <a:ext cx="2592324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892" y="411480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4663440"/>
            <a:ext cx="2263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shielding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5093208"/>
            <a:ext cx="22631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runtime override: when the empirical violation budget depletes, the wrapper takes over — guaranteed per-episode SLA cap, regardless of the policy.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78708" y="3886200"/>
            <a:ext cx="259232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378708" y="3886200"/>
            <a:ext cx="2592324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54330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433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4114800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543300" y="4663440"/>
            <a:ext cx="2263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PPO-Lagrangian (online)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3543300" y="5093208"/>
            <a:ext cx="22631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dual variable into the live training loop, so λ reacts to real env violations instead of frozen logged costs — soft-constraint version of CMDP, end-to-end.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190488" y="3886200"/>
            <a:ext cx="259232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190488" y="3886200"/>
            <a:ext cx="2592324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5508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355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52" y="4114800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55080" y="4663440"/>
            <a:ext cx="2263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with safety critic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6355080" y="5093208"/>
            <a:ext cx="22631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Policy Optimisation with hard rejection via a calibrated safety critic — formal cost bounds at each policy update.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9002268" y="3886200"/>
            <a:ext cx="259232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9002268" y="3886200"/>
            <a:ext cx="2592324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916686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1668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0232" y="4114800"/>
            <a:ext cx="365760" cy="36576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166860" y="4663440"/>
            <a:ext cx="2263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/ non-stationary loads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9166860" y="5093208"/>
            <a:ext cx="22631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Poisson timing with the real Google-v2 burstiness; this is exactly where SJF's myopic policy is expected to break and learned policies should pull ahead.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0" y="6565392"/>
            <a:ext cx="12161520" cy="36576"/>
          </a:xfrm>
          <a:prstGeom prst="rect">
            <a:avLst/>
          </a:prstGeom>
          <a:solidFill>
            <a:srgbClr val="DC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45720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in Cloud Computing via Deep RL  ·  Tanish Patel &amp; Arnav Ahuja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914400" y="-45720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961120" y="3383280"/>
            <a:ext cx="4114800" cy="4114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377440"/>
            <a:ext cx="109728" cy="1280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1887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2"/>
          <p:cNvSpPr/>
          <p:nvPr/>
        </p:nvSpPr>
        <p:spPr>
          <a:xfrm>
            <a:off x="118872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suggestions, and breaking-our-baselines welcome.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1188720" y="4389120"/>
            <a:ext cx="36576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887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 Patel  ·  tp2899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Ahuja  ·  aa5790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Reinforcement Learning  · 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4227</Words>
  <Application>Microsoft Macintosh PowerPoint</Application>
  <PresentationFormat>Widescreen</PresentationFormat>
  <Paragraphs>482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Resource Allocation via Deep RL</dc:title>
  <dc:subject>PptxGenJS Presentation</dc:subject>
  <dc:creator>Tanish Patel &amp; Arnav Ahuja</dc:creator>
  <cp:lastModifiedBy>Ahuja, Arnav</cp:lastModifiedBy>
  <cp:revision>11</cp:revision>
  <dcterms:created xsi:type="dcterms:W3CDTF">2026-05-04T03:10:13Z</dcterms:created>
  <dcterms:modified xsi:type="dcterms:W3CDTF">2026-05-06T23:46:28Z</dcterms:modified>
</cp:coreProperties>
</file>